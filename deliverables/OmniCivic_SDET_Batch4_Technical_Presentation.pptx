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9875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33B5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Slide 1 - Problem Statement And Technical Solution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11064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</a:rPr>
              <a:t>OmniCivic | SDET Batch 4 | Java Track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457200" y="987552"/>
            <a:ext cx="11155680" cy="0"/>
          </a:xfrm>
          <a:prstGeom prst="line">
            <a:avLst/>
          </a:prstGeom>
          <a:noFill/>
          <a:ln w="12700">
            <a:solidFill>
              <a:srgbClr val="D7DE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646920" y="292608"/>
            <a:ext cx="1005840" cy="292608"/>
          </a:xfrm>
          <a:prstGeom prst="roundRect">
            <a:avLst>
              <a:gd name="adj" fmla="val 15625"/>
            </a:avLst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701784" y="356616"/>
            <a:ext cx="896112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SDET BATCH 4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10744200" y="292608"/>
            <a:ext cx="868680" cy="292608"/>
          </a:xfrm>
          <a:prstGeom prst="roundRect">
            <a:avLst>
              <a:gd name="adj" fmla="val 15625"/>
            </a:avLst>
          </a:prstGeom>
          <a:solidFill>
            <a:srgbClr val="4D7C59"/>
          </a:solidFill>
          <a:ln w="12700">
            <a:solidFill>
              <a:srgbClr val="4D7C5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799064" y="356616"/>
            <a:ext cx="758952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JAVA TRACK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566928" y="1325880"/>
            <a:ext cx="5349240" cy="4343400"/>
          </a:xfrm>
          <a:prstGeom prst="roundRect">
            <a:avLst>
              <a:gd name="adj" fmla="val 1684"/>
            </a:avLst>
          </a:prstGeom>
          <a:solidFill>
            <a:srgbClr val="F7F9FC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1444752"/>
            <a:ext cx="509320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A84A57"/>
                </a:solidFill>
              </a:rPr>
              <a:t>Problem Statement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731520" y="1709928"/>
            <a:ext cx="5093208" cy="38679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152400" indent="-152400">
              <a:buSzPct val="100000"/>
              <a:buChar char="•"/>
            </a:pPr>
            <a:r>
              <a:rPr lang="en-US" sz="1080" dirty="0">
                <a:solidFill>
                  <a:srgbClr val="1F2937"/>
                </a:solidFill>
              </a:rPr>
              <a:t>Complaint handling in many communities is unstructured: messages are spread across WhatsApp, calls, spreadsheets, and manual follow-up.</a:t>
            </a:r>
            <a:endParaRPr lang="en-US" sz="1080" dirty="0"/>
          </a:p>
          <a:p>
            <a:pPr marL="152400" indent="-152400">
              <a:buSzPct val="100000"/>
              <a:buChar char="•"/>
            </a:pPr>
            <a:r>
              <a:rPr lang="en-US" sz="1080" dirty="0">
                <a:solidFill>
                  <a:srgbClr val="1F2937"/>
                </a:solidFill>
              </a:rPr>
              <a:t>There is no reliable ownership model for who should act next, which leads to ticket delays and missed issues.</a:t>
            </a:r>
            <a:endParaRPr lang="en-US" sz="1080" dirty="0"/>
          </a:p>
          <a:p>
            <a:pPr marL="152400" indent="-152400">
              <a:buSzPct val="100000"/>
              <a:buChar char="•"/>
            </a:pPr>
            <a:r>
              <a:rPr lang="en-US" sz="1080" dirty="0">
                <a:solidFill>
                  <a:srgbClr val="1F2937"/>
                </a:solidFill>
              </a:rPr>
              <a:t>Traditional complaint handling also lacks proof-of-work verification, auditability, and technical traceability.</a:t>
            </a:r>
            <a:endParaRPr lang="en-US" sz="1080" dirty="0"/>
          </a:p>
          <a:p>
            <a:pPr marL="152400" indent="-152400">
              <a:buSzPct val="100000"/>
              <a:buChar char="•"/>
            </a:pPr>
            <a:r>
              <a:rPr lang="en-US" sz="1080" dirty="0">
                <a:solidFill>
                  <a:srgbClr val="1F2937"/>
                </a:solidFill>
              </a:rPr>
              <a:t>From a systems perspective, the challenge is to build a scalable platform that supports many communities without creating a separate deployment for each one.</a:t>
            </a:r>
            <a:endParaRPr lang="en-US" sz="1080" dirty="0"/>
          </a:p>
        </p:txBody>
      </p:sp>
      <p:sp>
        <p:nvSpPr>
          <p:cNvPr id="12" name="Shape 10"/>
          <p:cNvSpPr/>
          <p:nvPr/>
        </p:nvSpPr>
        <p:spPr>
          <a:xfrm>
            <a:off x="6236208" y="1325880"/>
            <a:ext cx="5349240" cy="4343400"/>
          </a:xfrm>
          <a:prstGeom prst="roundRect">
            <a:avLst>
              <a:gd name="adj" fmla="val 1684"/>
            </a:avLst>
          </a:prstGeom>
          <a:solidFill>
            <a:srgbClr val="EAF2FB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0" y="1444752"/>
            <a:ext cx="509320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3B5C"/>
                </a:solidFill>
              </a:rPr>
              <a:t>Technical Solution Delivered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6400800" y="1709928"/>
            <a:ext cx="5093208" cy="38679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152400" indent="-152400">
              <a:buSzPct val="100000"/>
              <a:buChar char="•"/>
            </a:pPr>
            <a:r>
              <a:rPr lang="en-US" sz="1080" dirty="0">
                <a:solidFill>
                  <a:srgbClr val="1F2937"/>
                </a:solidFill>
              </a:rPr>
              <a:t>We built OmniCivic as a full-stack multi-tenant web application with Angular frontend, Spring Boot backend, and MySQL database.</a:t>
            </a:r>
            <a:endParaRPr lang="en-US" sz="1080" dirty="0"/>
          </a:p>
          <a:p>
            <a:pPr marL="152400" indent="-152400">
              <a:buSzPct val="100000"/>
              <a:buChar char="•"/>
            </a:pPr>
            <a:r>
              <a:rPr lang="en-US" sz="1080" dirty="0">
                <a:solidFill>
                  <a:srgbClr val="1F2937"/>
                </a:solidFill>
              </a:rPr>
              <a:t>We implemented a controlled complaint lifecycle with role-based access for resident, admin, co-admin, staff, and super-admin.</a:t>
            </a:r>
            <a:endParaRPr lang="en-US" sz="1080" dirty="0"/>
          </a:p>
          <a:p>
            <a:pPr marL="152400" indent="-152400">
              <a:buSzPct val="100000"/>
              <a:buChar char="•"/>
            </a:pPr>
            <a:r>
              <a:rPr lang="en-US" sz="1080" dirty="0">
                <a:solidFill>
                  <a:srgbClr val="1F2937"/>
                </a:solidFill>
              </a:rPr>
              <a:t>We added technical controls such as JWT authentication, tenant isolation using communityPrefix, proof verification, duplicate detection, and location validation.</a:t>
            </a:r>
            <a:endParaRPr lang="en-US" sz="1080" dirty="0"/>
          </a:p>
          <a:p>
            <a:pPr marL="152400" indent="-152400">
              <a:buSzPct val="100000"/>
              <a:buChar char="•"/>
            </a:pPr>
            <a:r>
              <a:rPr lang="en-US" sz="1080" dirty="0">
                <a:solidFill>
                  <a:srgbClr val="1F2937"/>
                </a:solidFill>
              </a:rPr>
              <a:t>The result is a reusable SaaS-style platform that combines application engineering, testing mindset, and business-aligned workflow design.</a:t>
            </a:r>
            <a:endParaRPr lang="en-US" sz="108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9875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33B5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Slide 2 - Tech Stack And Architecture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11064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</a:rPr>
              <a:t>Technical foundation of the solution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457200" y="987552"/>
            <a:ext cx="11155680" cy="0"/>
          </a:xfrm>
          <a:prstGeom prst="line">
            <a:avLst/>
          </a:prstGeom>
          <a:noFill/>
          <a:ln w="12700">
            <a:solidFill>
              <a:srgbClr val="D7DE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280160"/>
            <a:ext cx="201168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280160"/>
            <a:ext cx="109728" cy="960120"/>
          </a:xfrm>
          <a:prstGeom prst="rect">
            <a:avLst/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77824" y="1426464"/>
            <a:ext cx="170078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7A8C"/>
                </a:solidFill>
              </a:rPr>
              <a:t>Angular 17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77824" y="1810512"/>
            <a:ext cx="170078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</a:rPr>
              <a:t>Frontend UI layer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743200" y="1280160"/>
            <a:ext cx="201168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743200" y="1280160"/>
            <a:ext cx="109728" cy="960120"/>
          </a:xfrm>
          <a:prstGeom prst="rect">
            <a:avLst/>
          </a:prstGeom>
          <a:solidFill>
            <a:srgbClr val="4D7C59"/>
          </a:solidFill>
          <a:ln w="12700">
            <a:solidFill>
              <a:srgbClr val="4D7C5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980944" y="1426464"/>
            <a:ext cx="170078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D7C59"/>
                </a:solidFill>
              </a:rPr>
              <a:t>Java 21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2980944" y="1810512"/>
            <a:ext cx="170078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</a:rPr>
              <a:t>Core language used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846320" y="1280160"/>
            <a:ext cx="201168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846320" y="1280160"/>
            <a:ext cx="109728" cy="960120"/>
          </a:xfrm>
          <a:prstGeom prst="rect">
            <a:avLst/>
          </a:prstGeom>
          <a:solidFill>
            <a:srgbClr val="133B5C"/>
          </a:solidFill>
          <a:ln w="12700">
            <a:solidFill>
              <a:srgbClr val="133B5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84064" y="1426464"/>
            <a:ext cx="170078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33B5C"/>
                </a:solidFill>
              </a:rPr>
              <a:t>Spring Boot 3.2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5084064" y="1810512"/>
            <a:ext cx="170078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</a:rPr>
              <a:t>Backend REST layer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949440" y="1280160"/>
            <a:ext cx="201168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949440" y="1280160"/>
            <a:ext cx="109728" cy="960120"/>
          </a:xfrm>
          <a:prstGeom prst="rect">
            <a:avLst/>
          </a:prstGeom>
          <a:solidFill>
            <a:srgbClr val="C58B2C"/>
          </a:solidFill>
          <a:ln w="12700">
            <a:solidFill>
              <a:srgbClr val="C58B2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187184" y="1426464"/>
            <a:ext cx="170078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58B2C"/>
                </a:solidFill>
              </a:rPr>
              <a:t>MySQL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7187184" y="1810512"/>
            <a:ext cx="170078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</a:rPr>
              <a:t>Relational persistence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9052560" y="1280160"/>
            <a:ext cx="201168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052560" y="1280160"/>
            <a:ext cx="109728" cy="960120"/>
          </a:xfrm>
          <a:prstGeom prst="rect">
            <a:avLst/>
          </a:prstGeom>
          <a:solidFill>
            <a:srgbClr val="A84A57"/>
          </a:solidFill>
          <a:ln w="12700">
            <a:solidFill>
              <a:srgbClr val="A84A5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290304" y="1426464"/>
            <a:ext cx="170078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A84A57"/>
                </a:solidFill>
              </a:rPr>
              <a:t>JWT + Selenium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9290304" y="1810512"/>
            <a:ext cx="170078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</a:rPr>
              <a:t>Security + QA automation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40080" y="2606040"/>
            <a:ext cx="3474720" cy="256032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86384" y="2734056"/>
            <a:ext cx="321868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7A8C"/>
                </a:solidFill>
              </a:rPr>
              <a:t>Frontend Layer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786384" y="3008376"/>
            <a:ext cx="3218688" cy="20665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</a:rPr>
              <a:t>Angular standalone components, reactive forms, route guards, JWT interceptor, Leaflet integration for complaint pinning and boundary control.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343400" y="2606040"/>
            <a:ext cx="3474720" cy="256032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489704" y="2734056"/>
            <a:ext cx="321868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33B5C"/>
                </a:solidFill>
              </a:rPr>
              <a:t>Backend Layer</a:t>
            </a:r>
            <a:endParaRPr lang="en-US" sz="1350" dirty="0"/>
          </a:p>
        </p:txBody>
      </p:sp>
      <p:sp>
        <p:nvSpPr>
          <p:cNvPr id="30" name="Text 28"/>
          <p:cNvSpPr/>
          <p:nvPr/>
        </p:nvSpPr>
        <p:spPr>
          <a:xfrm>
            <a:off x="4489704" y="3008376"/>
            <a:ext cx="3218688" cy="20665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</a:rPr>
              <a:t>Spring Boot REST APIs with service-repository layering, JPA/Hibernate, Spring Security, validation, email notifications, and audit logging through AOP.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8046720" y="2606040"/>
            <a:ext cx="3474720" cy="256032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193024" y="2734056"/>
            <a:ext cx="321868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4D7C59"/>
                </a:solidFill>
              </a:rPr>
              <a:t>Architecture Style</a:t>
            </a:r>
            <a:endParaRPr lang="en-US" sz="1350" dirty="0"/>
          </a:p>
        </p:txBody>
      </p:sp>
      <p:sp>
        <p:nvSpPr>
          <p:cNvPr id="33" name="Text 31"/>
          <p:cNvSpPr/>
          <p:nvPr/>
        </p:nvSpPr>
        <p:spPr>
          <a:xfrm>
            <a:off x="8193024" y="3008376"/>
            <a:ext cx="3218688" cy="20665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</a:rPr>
              <a:t>Single deployment, multi-tenant architecture. Tenant isolation is handled logically using communityPrefix across entities, JWT claims, and repository queries.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9875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33B5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Slide 3 - Curriculum Alignment With SDET Handbook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11064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</a:rPr>
              <a:t>How the project applied and extended the Java Track curriculum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457200" y="987552"/>
            <a:ext cx="11155680" cy="0"/>
          </a:xfrm>
          <a:prstGeom prst="line">
            <a:avLst/>
          </a:prstGeom>
          <a:noFill/>
          <a:ln w="12700">
            <a:solidFill>
              <a:srgbClr val="D7DE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66928" y="1325880"/>
            <a:ext cx="3657600" cy="4343400"/>
          </a:xfrm>
          <a:prstGeom prst="roundRect">
            <a:avLst>
              <a:gd name="adj" fmla="val 2000"/>
            </a:avLst>
          </a:prstGeom>
          <a:solidFill>
            <a:srgbClr val="EAF2FB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444752"/>
            <a:ext cx="34015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3B5C"/>
                </a:solidFill>
              </a:rPr>
              <a:t>Stage 1 Applied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731520" y="1709928"/>
            <a:ext cx="3401568" cy="38679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152400" indent="-152400">
              <a:buSzPct val="100000"/>
              <a:buChar char="•"/>
            </a:pPr>
            <a:r>
              <a:rPr lang="en-US" sz="1080" dirty="0">
                <a:solidFill>
                  <a:srgbClr val="1F2937"/>
                </a:solidFill>
              </a:rPr>
              <a:t>Frontend foundations from HTML, CSS, and JavaScript were extended into an Angular 17 application.</a:t>
            </a:r>
            <a:endParaRPr lang="en-US" sz="1080" dirty="0"/>
          </a:p>
          <a:p>
            <a:pPr marL="152400" indent="-152400">
              <a:buSzPct val="100000"/>
              <a:buChar char="•"/>
            </a:pPr>
            <a:r>
              <a:rPr lang="en-US" sz="1080" dirty="0">
                <a:solidFill>
                  <a:srgbClr val="1F2937"/>
                </a:solidFill>
              </a:rPr>
              <a:t>Database and SQL learning were applied through MySQL schema design and relational modeling.</a:t>
            </a:r>
            <a:endParaRPr lang="en-US" sz="1080" dirty="0"/>
          </a:p>
          <a:p>
            <a:pPr marL="152400" indent="-152400">
              <a:buSzPct val="100000"/>
              <a:buChar char="•"/>
            </a:pPr>
            <a:r>
              <a:rPr lang="en-US" sz="1080" dirty="0">
                <a:solidFill>
                  <a:srgbClr val="1F2937"/>
                </a:solidFill>
              </a:rPr>
              <a:t>Java programming concepts were applied in backend service design, DTO handling, and workflow logic.</a:t>
            </a:r>
            <a:endParaRPr lang="en-US" sz="1080" dirty="0"/>
          </a:p>
        </p:txBody>
      </p:sp>
      <p:sp>
        <p:nvSpPr>
          <p:cNvPr id="8" name="Shape 6"/>
          <p:cNvSpPr/>
          <p:nvPr/>
        </p:nvSpPr>
        <p:spPr>
          <a:xfrm>
            <a:off x="4270248" y="1325880"/>
            <a:ext cx="3657600" cy="4343400"/>
          </a:xfrm>
          <a:prstGeom prst="roundRect">
            <a:avLst>
              <a:gd name="adj" fmla="val 2000"/>
            </a:avLst>
          </a:prstGeom>
          <a:solidFill>
            <a:srgbClr val="EDF7F0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434840" y="1444752"/>
            <a:ext cx="34015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7A8C"/>
                </a:solidFill>
              </a:rPr>
              <a:t>Stage 2 Applied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4434840" y="1709928"/>
            <a:ext cx="3401568" cy="38679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152400" indent="-152400">
              <a:buSzPct val="100000"/>
              <a:buChar char="•"/>
            </a:pPr>
            <a:r>
              <a:rPr lang="en-US" sz="1080" dirty="0">
                <a:solidFill>
                  <a:srgbClr val="1F2937"/>
                </a:solidFill>
              </a:rPr>
              <a:t>Maven is used for backend dependency management and project build lifecycle.</a:t>
            </a:r>
            <a:endParaRPr lang="en-US" sz="1080" dirty="0"/>
          </a:p>
          <a:p>
            <a:pPr marL="152400" indent="-152400">
              <a:buSzPct val="100000"/>
              <a:buChar char="•"/>
            </a:pPr>
            <a:r>
              <a:rPr lang="en-US" sz="1080" dirty="0">
                <a:solidFill>
                  <a:srgbClr val="1F2937"/>
                </a:solidFill>
              </a:rPr>
              <a:t>Spring concepts were applied through Spring Boot, REST controllers, JPA, validation, and Spring Security.</a:t>
            </a:r>
            <a:endParaRPr lang="en-US" sz="1080" dirty="0"/>
          </a:p>
          <a:p>
            <a:pPr marL="152400" indent="-152400">
              <a:buSzPct val="100000"/>
              <a:buChar char="•"/>
            </a:pPr>
            <a:r>
              <a:rPr lang="en-US" sz="1080" dirty="0">
                <a:solidFill>
                  <a:srgbClr val="1F2937"/>
                </a:solidFill>
              </a:rPr>
              <a:t>Functional testing mindset and Agile workflow were reflected in role-wise flows and validation-driven design.</a:t>
            </a:r>
            <a:endParaRPr lang="en-US" sz="1080" dirty="0"/>
          </a:p>
          <a:p>
            <a:pPr marL="152400" indent="-152400">
              <a:buSzPct val="100000"/>
              <a:buChar char="•"/>
            </a:pPr>
            <a:r>
              <a:rPr lang="en-US" sz="1080" dirty="0">
                <a:solidFill>
                  <a:srgbClr val="1F2937"/>
                </a:solidFill>
              </a:rPr>
              <a:t>GenAI learning was applied as a development accelerator for design, refactoring, testing support, and technical documentation.</a:t>
            </a:r>
            <a:endParaRPr lang="en-US" sz="1080" dirty="0"/>
          </a:p>
        </p:txBody>
      </p:sp>
      <p:sp>
        <p:nvSpPr>
          <p:cNvPr id="11" name="Shape 9"/>
          <p:cNvSpPr/>
          <p:nvPr/>
        </p:nvSpPr>
        <p:spPr>
          <a:xfrm>
            <a:off x="7973568" y="1325880"/>
            <a:ext cx="3657600" cy="4343400"/>
          </a:xfrm>
          <a:prstGeom prst="roundRect">
            <a:avLst>
              <a:gd name="adj" fmla="val 2000"/>
            </a:avLst>
          </a:prstGeom>
          <a:solidFill>
            <a:srgbClr val="FCF4E5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138160" y="1444752"/>
            <a:ext cx="34015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C58B2C"/>
                </a:solidFill>
              </a:rPr>
              <a:t>Stage 3 Applied And Extended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8138160" y="1709928"/>
            <a:ext cx="3401568" cy="38679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152400" indent="-152400">
              <a:buSzPct val="100000"/>
              <a:buChar char="•"/>
            </a:pPr>
            <a:r>
              <a:rPr lang="en-US" sz="1080" dirty="0">
                <a:solidFill>
                  <a:srgbClr val="1F2937"/>
                </a:solidFill>
              </a:rPr>
              <a:t>Selenium, Java, TestNG, and Page Object Model were used for UI automation.</a:t>
            </a:r>
            <a:endParaRPr lang="en-US" sz="1080" dirty="0"/>
          </a:p>
          <a:p>
            <a:pPr marL="152400" indent="-152400">
              <a:buSzPct val="100000"/>
              <a:buChar char="•"/>
            </a:pPr>
            <a:r>
              <a:rPr lang="en-US" sz="1080" dirty="0">
                <a:solidFill>
                  <a:srgbClr val="1F2937"/>
                </a:solidFill>
              </a:rPr>
              <a:t>API automation concepts connect naturally to our REST-first backend design with 53 endpoints.</a:t>
            </a:r>
            <a:endParaRPr lang="en-US" sz="1080" dirty="0"/>
          </a:p>
          <a:p>
            <a:pPr marL="152400" indent="-152400">
              <a:buSzPct val="100000"/>
              <a:buChar char="•"/>
            </a:pPr>
            <a:r>
              <a:rPr lang="en-US" sz="1080" dirty="0">
                <a:solidFill>
                  <a:srgbClr val="1F2937"/>
                </a:solidFill>
              </a:rPr>
              <a:t>On top of the curriculum, we implemented multi-tenancy, geolocation validation, proof-of-work approval, community feed, and audit trails.</a:t>
            </a:r>
            <a:endParaRPr lang="en-US" sz="108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9875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33B5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Slide 4 - Core Technical Implementation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11064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</a:rPr>
              <a:t>The main engineering constructs built in the project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457200" y="987552"/>
            <a:ext cx="11155680" cy="0"/>
          </a:xfrm>
          <a:prstGeom prst="line">
            <a:avLst/>
          </a:prstGeom>
          <a:noFill/>
          <a:ln w="12700">
            <a:solidFill>
              <a:srgbClr val="D7DE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1371600"/>
            <a:ext cx="3566160" cy="4297680"/>
          </a:xfrm>
          <a:prstGeom prst="roundRect">
            <a:avLst>
              <a:gd name="adj" fmla="val 2051"/>
            </a:avLst>
          </a:prstGeom>
          <a:solidFill>
            <a:srgbClr val="F7F9FC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58952" y="1490472"/>
            <a:ext cx="331012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3B5C"/>
                </a:solidFill>
              </a:rPr>
              <a:t>Security And Access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758952" y="1755648"/>
            <a:ext cx="3310128" cy="38221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152400" indent="-152400">
              <a:buSzPct val="100000"/>
              <a:buChar char="•"/>
            </a:pPr>
            <a:r>
              <a:rPr lang="en-US" sz="1080" dirty="0">
                <a:solidFill>
                  <a:srgbClr val="1F2937"/>
                </a:solidFill>
              </a:rPr>
              <a:t>Stateless JWT authentication using Spring Security.</a:t>
            </a:r>
            <a:endParaRPr lang="en-US" sz="1080" dirty="0"/>
          </a:p>
          <a:p>
            <a:pPr marL="152400" indent="-152400">
              <a:buSzPct val="100000"/>
              <a:buChar char="•"/>
            </a:pPr>
            <a:r>
              <a:rPr lang="en-US" sz="1080" dirty="0">
                <a:solidFill>
                  <a:srgbClr val="1F2937"/>
                </a:solidFill>
              </a:rPr>
              <a:t>Password hashing through BCrypt.</a:t>
            </a:r>
            <a:endParaRPr lang="en-US" sz="1080" dirty="0"/>
          </a:p>
          <a:p>
            <a:pPr marL="152400" indent="-152400">
              <a:buSzPct val="100000"/>
              <a:buChar char="•"/>
            </a:pPr>
            <a:r>
              <a:rPr lang="en-US" sz="1080" dirty="0">
                <a:solidFill>
                  <a:srgbClr val="1F2937"/>
                </a:solidFill>
              </a:rPr>
              <a:t>Frontend AuthGuard and backend @PreAuthorize enforcement.</a:t>
            </a:r>
            <a:endParaRPr lang="en-US" sz="1080" dirty="0"/>
          </a:p>
          <a:p>
            <a:pPr marL="152400" indent="-152400">
              <a:buSzPct val="100000"/>
              <a:buChar char="•"/>
            </a:pPr>
            <a:r>
              <a:rPr lang="en-US" sz="1080" dirty="0">
                <a:solidFill>
                  <a:srgbClr val="1F2937"/>
                </a:solidFill>
              </a:rPr>
              <a:t>First-login password reset gate implemented through token claims.</a:t>
            </a:r>
            <a:endParaRPr lang="en-US" sz="1080" dirty="0"/>
          </a:p>
        </p:txBody>
      </p:sp>
      <p:sp>
        <p:nvSpPr>
          <p:cNvPr id="8" name="Shape 6"/>
          <p:cNvSpPr/>
          <p:nvPr/>
        </p:nvSpPr>
        <p:spPr>
          <a:xfrm>
            <a:off x="4315968" y="1371600"/>
            <a:ext cx="3566160" cy="4297680"/>
          </a:xfrm>
          <a:prstGeom prst="roundRect">
            <a:avLst>
              <a:gd name="adj" fmla="val 2051"/>
            </a:avLst>
          </a:prstGeom>
          <a:solidFill>
            <a:srgbClr val="EDF7F0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480560" y="1490472"/>
            <a:ext cx="331012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4D7C59"/>
                </a:solidFill>
              </a:rPr>
              <a:t>Data And Tenant Model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4480560" y="1755648"/>
            <a:ext cx="3310128" cy="38221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152400" indent="-152400">
              <a:buSzPct val="100000"/>
              <a:buChar char="•"/>
            </a:pPr>
            <a:r>
              <a:rPr lang="en-US" sz="1080" dirty="0">
                <a:solidFill>
                  <a:srgbClr val="1F2937"/>
                </a:solidFill>
              </a:rPr>
              <a:t>MySQL + JPA/Hibernate with entity-driven schema.</a:t>
            </a:r>
            <a:endParaRPr lang="en-US" sz="1080" dirty="0"/>
          </a:p>
          <a:p>
            <a:pPr marL="152400" indent="-152400">
              <a:buSzPct val="100000"/>
              <a:buChar char="•"/>
            </a:pPr>
            <a:r>
              <a:rPr lang="en-US" sz="1080" dirty="0">
                <a:solidFill>
                  <a:srgbClr val="1F2937"/>
                </a:solidFill>
              </a:rPr>
              <a:t>communityPrefix used as the tenant partition key.</a:t>
            </a:r>
            <a:endParaRPr lang="en-US" sz="1080" dirty="0"/>
          </a:p>
          <a:p>
            <a:pPr marL="152400" indent="-152400">
              <a:buSzPct val="100000"/>
              <a:buChar char="•"/>
            </a:pPr>
            <a:r>
              <a:rPr lang="en-US" sz="1080" dirty="0">
                <a:solidFill>
                  <a:srgbClr val="1F2937"/>
                </a:solidFill>
              </a:rPr>
              <a:t>Community-scoped complaint numbering rather than global numbering.</a:t>
            </a:r>
            <a:endParaRPr lang="en-US" sz="1080" dirty="0"/>
          </a:p>
          <a:p>
            <a:pPr marL="152400" indent="-152400">
              <a:buSzPct val="100000"/>
              <a:buChar char="•"/>
            </a:pPr>
            <a:r>
              <a:rPr lang="en-US" sz="1080" dirty="0">
                <a:solidFill>
                  <a:srgbClr val="1F2937"/>
                </a:solidFill>
              </a:rPr>
              <a:t>Separate tables for complaints, media, proofs, upvotes, notifications, and audit logs.</a:t>
            </a:r>
            <a:endParaRPr lang="en-US" sz="1080" dirty="0"/>
          </a:p>
        </p:txBody>
      </p:sp>
      <p:sp>
        <p:nvSpPr>
          <p:cNvPr id="11" name="Shape 9"/>
          <p:cNvSpPr/>
          <p:nvPr/>
        </p:nvSpPr>
        <p:spPr>
          <a:xfrm>
            <a:off x="8037576" y="1371600"/>
            <a:ext cx="3566160" cy="4297680"/>
          </a:xfrm>
          <a:prstGeom prst="roundRect">
            <a:avLst>
              <a:gd name="adj" fmla="val 2051"/>
            </a:avLst>
          </a:prstGeom>
          <a:solidFill>
            <a:srgbClr val="FCF4E5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02168" y="1490472"/>
            <a:ext cx="331012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A84A57"/>
                </a:solidFill>
              </a:rPr>
              <a:t>Advanced Logic Built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8202168" y="1755648"/>
            <a:ext cx="3310128" cy="38221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152400" indent="-152400">
              <a:buSzPct val="100000"/>
              <a:buChar char="•"/>
            </a:pPr>
            <a:r>
              <a:rPr lang="en-US" sz="1080" dirty="0">
                <a:solidFill>
                  <a:srgbClr val="1F2937"/>
                </a:solidFill>
              </a:rPr>
              <a:t>Duplicate detection through Haversine-distance logic.</a:t>
            </a:r>
            <a:endParaRPr lang="en-US" sz="1080" dirty="0"/>
          </a:p>
          <a:p>
            <a:pPr marL="152400" indent="-152400">
              <a:buSzPct val="100000"/>
              <a:buChar char="•"/>
            </a:pPr>
            <a:r>
              <a:rPr lang="en-US" sz="1080" dirty="0">
                <a:solidFill>
                  <a:srgbClr val="1F2937"/>
                </a:solidFill>
              </a:rPr>
              <a:t>Anti-fake complaint control through polygon or radius-based location validation.</a:t>
            </a:r>
            <a:endParaRPr lang="en-US" sz="1080" dirty="0"/>
          </a:p>
          <a:p>
            <a:pPr marL="152400" indent="-152400">
              <a:buSzPct val="100000"/>
              <a:buChar char="•"/>
            </a:pPr>
            <a:r>
              <a:rPr lang="en-US" sz="1080" dirty="0">
                <a:solidFill>
                  <a:srgbClr val="1F2937"/>
                </a:solidFill>
              </a:rPr>
              <a:t>Proof-of-work review flow where staff cannot self-close complaints.</a:t>
            </a:r>
            <a:endParaRPr lang="en-US" sz="1080" dirty="0"/>
          </a:p>
          <a:p>
            <a:pPr marL="152400" indent="-152400">
              <a:buSzPct val="100000"/>
              <a:buChar char="•"/>
            </a:pPr>
            <a:r>
              <a:rPr lang="en-US" sz="1080" dirty="0">
                <a:solidFill>
                  <a:srgbClr val="1F2937"/>
                </a:solidFill>
              </a:rPr>
              <a:t>Async email notifications and AOP-based audit logging.</a:t>
            </a:r>
            <a:endParaRPr lang="en-US" sz="108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9875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33B5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Slide 5 - API Landscape And Skills Developed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11064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</a:rPr>
              <a:t>Technical scale of the implementation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457200" y="987552"/>
            <a:ext cx="11155680" cy="0"/>
          </a:xfrm>
          <a:prstGeom prst="line">
            <a:avLst/>
          </a:prstGeom>
          <a:noFill/>
          <a:ln w="12700">
            <a:solidFill>
              <a:srgbClr val="D7DE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325880"/>
            <a:ext cx="18288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325880"/>
            <a:ext cx="109728" cy="914400"/>
          </a:xfrm>
          <a:prstGeom prst="rect">
            <a:avLst/>
          </a:prstGeom>
          <a:solidFill>
            <a:srgbClr val="133B5C"/>
          </a:solidFill>
          <a:ln w="12700">
            <a:solidFill>
              <a:srgbClr val="133B5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77824" y="1472184"/>
            <a:ext cx="151790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33B5C"/>
                </a:solidFill>
              </a:rPr>
              <a:t>53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77824" y="1856232"/>
            <a:ext cx="151790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</a:rPr>
              <a:t>Implemented REST endpoints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651760" y="1325880"/>
            <a:ext cx="18288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651760" y="1325880"/>
            <a:ext cx="109728" cy="914400"/>
          </a:xfrm>
          <a:prstGeom prst="rect">
            <a:avLst/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889504" y="1472184"/>
            <a:ext cx="151790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7A8C"/>
                </a:solidFill>
              </a:rPr>
              <a:t>9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2889504" y="1856232"/>
            <a:ext cx="151790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</a:rPr>
              <a:t>Controller modules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663440" y="1325880"/>
            <a:ext cx="18288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663440" y="1325880"/>
            <a:ext cx="109728" cy="914400"/>
          </a:xfrm>
          <a:prstGeom prst="rect">
            <a:avLst/>
          </a:prstGeom>
          <a:solidFill>
            <a:srgbClr val="4D7C59"/>
          </a:solidFill>
          <a:ln w="12700">
            <a:solidFill>
              <a:srgbClr val="4D7C5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01184" y="1472184"/>
            <a:ext cx="151790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D7C59"/>
                </a:solidFill>
              </a:rPr>
              <a:t>22 GET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4901184" y="1856232"/>
            <a:ext cx="151790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</a:rPr>
              <a:t>Read APIs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675120" y="1325880"/>
            <a:ext cx="18288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675120" y="1325880"/>
            <a:ext cx="109728" cy="914400"/>
          </a:xfrm>
          <a:prstGeom prst="rect">
            <a:avLst/>
          </a:prstGeom>
          <a:solidFill>
            <a:srgbClr val="C58B2C"/>
          </a:solidFill>
          <a:ln w="12700">
            <a:solidFill>
              <a:srgbClr val="C58B2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912864" y="1472184"/>
            <a:ext cx="151790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58B2C"/>
                </a:solidFill>
              </a:rPr>
              <a:t>16 POST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6912864" y="1856232"/>
            <a:ext cx="151790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</a:rPr>
              <a:t>Create/action APIs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8686800" y="1325880"/>
            <a:ext cx="13716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686800" y="1325880"/>
            <a:ext cx="109728" cy="914400"/>
          </a:xfrm>
          <a:prstGeom prst="rect">
            <a:avLst/>
          </a:prstGeom>
          <a:solidFill>
            <a:srgbClr val="A84A57"/>
          </a:solidFill>
          <a:ln w="12700">
            <a:solidFill>
              <a:srgbClr val="A84A5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924544" y="1472184"/>
            <a:ext cx="106070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A84A57"/>
                </a:solidFill>
              </a:rPr>
              <a:t>11 PUT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8924544" y="1856232"/>
            <a:ext cx="106070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</a:rPr>
              <a:t>Update APIs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10195560" y="1325880"/>
            <a:ext cx="13716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0195560" y="1325880"/>
            <a:ext cx="109728" cy="914400"/>
          </a:xfrm>
          <a:prstGeom prst="rect">
            <a:avLst/>
          </a:prstGeom>
          <a:solidFill>
            <a:srgbClr val="667085"/>
          </a:solidFill>
          <a:ln w="12700">
            <a:solidFill>
              <a:srgbClr val="66708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433304" y="1472184"/>
            <a:ext cx="106070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667085"/>
                </a:solidFill>
              </a:rPr>
              <a:t>4 DELETE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10433304" y="1856232"/>
            <a:ext cx="106070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</a:rPr>
              <a:t>Delete APIs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40080" y="2606040"/>
            <a:ext cx="5212080" cy="2926080"/>
          </a:xfrm>
          <a:prstGeom prst="roundRect">
            <a:avLst>
              <a:gd name="adj" fmla="val 2500"/>
            </a:avLst>
          </a:prstGeom>
          <a:solidFill>
            <a:srgbClr val="EAF2FB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04672" y="2724912"/>
            <a:ext cx="495604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3B5C"/>
                </a:solidFill>
              </a:rPr>
              <a:t>API Modules Used In The Project</a:t>
            </a:r>
            <a:endParaRPr lang="en-US" sz="1450" dirty="0"/>
          </a:p>
        </p:txBody>
      </p:sp>
      <p:sp>
        <p:nvSpPr>
          <p:cNvPr id="31" name="Text 29"/>
          <p:cNvSpPr/>
          <p:nvPr/>
        </p:nvSpPr>
        <p:spPr>
          <a:xfrm>
            <a:off x="804672" y="2990088"/>
            <a:ext cx="4956048" cy="2450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152400" indent="-152400">
              <a:buSzPct val="100000"/>
              <a:buChar char="•"/>
            </a:pPr>
            <a:r>
              <a:rPr lang="en-US" sz="1080" dirty="0">
                <a:solidFill>
                  <a:srgbClr val="1F2937"/>
                </a:solidFill>
              </a:rPr>
              <a:t>Auth APIs: login and reset-password</a:t>
            </a:r>
            <a:endParaRPr lang="en-US" sz="1080" dirty="0"/>
          </a:p>
          <a:p>
            <a:pPr marL="152400" indent="-152400">
              <a:buSzPct val="100000"/>
              <a:buChar char="•"/>
            </a:pPr>
            <a:r>
              <a:rPr lang="en-US" sz="1080" dirty="0">
                <a:solidFill>
                  <a:srgbClr val="1F2937"/>
                </a:solidFill>
              </a:rPr>
              <a:t>Complaint APIs: submission, feed, upvote, assignment, proof, closure, map pins</a:t>
            </a:r>
            <a:endParaRPr lang="en-US" sz="1080" dirty="0"/>
          </a:p>
          <a:p>
            <a:pPr marL="152400" indent="-152400">
              <a:buSzPct val="100000"/>
              <a:buChar char="•"/>
            </a:pPr>
            <a:r>
              <a:rPr lang="en-US" sz="1080" dirty="0">
                <a:solidFill>
                  <a:srgbClr val="1F2937"/>
                </a:solidFill>
              </a:rPr>
              <a:t>User APIs: profile, residents, staff, co-admin, deactivate</a:t>
            </a:r>
            <a:endParaRPr lang="en-US" sz="1080" dirty="0"/>
          </a:p>
          <a:p>
            <a:pPr marL="152400" indent="-152400">
              <a:buSzPct val="100000"/>
              <a:buChar char="•"/>
            </a:pPr>
            <a:r>
              <a:rPr lang="en-US" sz="1080" dirty="0">
                <a:solidFill>
                  <a:srgbClr val="1F2937"/>
                </a:solidFill>
              </a:rPr>
              <a:t>Category, community, notification, service-request, audit, and bootstrap APIs</a:t>
            </a:r>
            <a:endParaRPr lang="en-US" sz="1080" dirty="0"/>
          </a:p>
        </p:txBody>
      </p:sp>
      <p:sp>
        <p:nvSpPr>
          <p:cNvPr id="32" name="Shape 30"/>
          <p:cNvSpPr/>
          <p:nvPr/>
        </p:nvSpPr>
        <p:spPr>
          <a:xfrm>
            <a:off x="6126480" y="2606040"/>
            <a:ext cx="5440680" cy="2926080"/>
          </a:xfrm>
          <a:prstGeom prst="roundRect">
            <a:avLst>
              <a:gd name="adj" fmla="val 2500"/>
            </a:avLst>
          </a:prstGeom>
          <a:solidFill>
            <a:srgbClr val="F7F9FC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291072" y="2724912"/>
            <a:ext cx="518464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7A8C"/>
                </a:solidFill>
              </a:rPr>
              <a:t>Technical Skills Learned And Demonstrated</a:t>
            </a:r>
            <a:endParaRPr lang="en-US" sz="1450" dirty="0"/>
          </a:p>
        </p:txBody>
      </p:sp>
      <p:sp>
        <p:nvSpPr>
          <p:cNvPr id="34" name="Text 32"/>
          <p:cNvSpPr/>
          <p:nvPr/>
        </p:nvSpPr>
        <p:spPr>
          <a:xfrm>
            <a:off x="6291072" y="2990088"/>
            <a:ext cx="5184648" cy="2450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152400" indent="-152400">
              <a:buSzPct val="100000"/>
              <a:buChar char="•"/>
            </a:pPr>
            <a:r>
              <a:rPr lang="en-US" sz="1080" dirty="0">
                <a:solidFill>
                  <a:srgbClr val="1F2937"/>
                </a:solidFill>
              </a:rPr>
              <a:t>Java backend design, Spring Boot, Spring Security, JPA/Hibernate, and DTO-based API design</a:t>
            </a:r>
            <a:endParaRPr lang="en-US" sz="1080" dirty="0"/>
          </a:p>
          <a:p>
            <a:pPr marL="152400" indent="-152400">
              <a:buSzPct val="100000"/>
              <a:buChar char="•"/>
            </a:pPr>
            <a:r>
              <a:rPr lang="en-US" sz="1080" dirty="0">
                <a:solidFill>
                  <a:srgbClr val="1F2937"/>
                </a:solidFill>
              </a:rPr>
              <a:t>Angular component-based UI development with forms, routing, and service integration</a:t>
            </a:r>
            <a:endParaRPr lang="en-US" sz="1080" dirty="0"/>
          </a:p>
          <a:p>
            <a:pPr marL="152400" indent="-152400">
              <a:buSzPct val="100000"/>
              <a:buChar char="•"/>
            </a:pPr>
            <a:r>
              <a:rPr lang="en-US" sz="1080" dirty="0">
                <a:solidFill>
                  <a:srgbClr val="1F2937"/>
                </a:solidFill>
              </a:rPr>
              <a:t>SQL/data modeling, Maven, GitHub-based versioning, and testing mindset</a:t>
            </a:r>
            <a:endParaRPr lang="en-US" sz="1080" dirty="0"/>
          </a:p>
          <a:p>
            <a:pPr marL="152400" indent="-152400">
              <a:buSzPct val="100000"/>
              <a:buChar char="•"/>
            </a:pPr>
            <a:r>
              <a:rPr lang="en-US" sz="1080" dirty="0">
                <a:solidFill>
                  <a:srgbClr val="1F2937"/>
                </a:solidFill>
              </a:rPr>
              <a:t>Ability to extend beyond curriculum by building scalable workflow logic and maintainable automation support</a:t>
            </a:r>
            <a:endParaRPr lang="en-US" sz="108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9875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33B5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Slide 6 - Gen AI Usage And Selenium Automation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11064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</a:rPr>
              <a:t>Technical support capabilities applied during project delivery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457200" y="987552"/>
            <a:ext cx="11155680" cy="0"/>
          </a:xfrm>
          <a:prstGeom prst="line">
            <a:avLst/>
          </a:prstGeom>
          <a:noFill/>
          <a:ln w="12700">
            <a:solidFill>
              <a:srgbClr val="D7DE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21792" y="1417320"/>
            <a:ext cx="5303520" cy="4114800"/>
          </a:xfrm>
          <a:prstGeom prst="roundRect">
            <a:avLst>
              <a:gd name="adj" fmla="val 1778"/>
            </a:avLst>
          </a:prstGeom>
          <a:solidFill>
            <a:srgbClr val="FCF4E5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86384" y="1536192"/>
            <a:ext cx="504748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C58B2C"/>
                </a:solidFill>
              </a:rPr>
              <a:t>How We Used Gen AI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786384" y="1801368"/>
            <a:ext cx="5047488" cy="36393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152400" indent="-152400">
              <a:buSzPct val="100000"/>
              <a:buChar char="•"/>
            </a:pPr>
            <a:r>
              <a:rPr lang="en-US" sz="1080" dirty="0">
                <a:solidFill>
                  <a:srgbClr val="1F2937"/>
                </a:solidFill>
              </a:rPr>
              <a:t>As a technical accelerator during design, coding, debugging, restructuring, and documentation.</a:t>
            </a:r>
            <a:endParaRPr lang="en-US" sz="1080" dirty="0"/>
          </a:p>
          <a:p>
            <a:pPr marL="152400" indent="-152400">
              <a:buSzPct val="100000"/>
              <a:buChar char="•"/>
            </a:pPr>
            <a:r>
              <a:rPr lang="en-US" sz="1080" dirty="0">
                <a:solidFill>
                  <a:srgbClr val="1F2937"/>
                </a:solidFill>
              </a:rPr>
              <a:t>To break down product requirements into implementable backend, frontend, and workflow tasks.</a:t>
            </a:r>
            <a:endParaRPr lang="en-US" sz="1080" dirty="0"/>
          </a:p>
          <a:p>
            <a:pPr marL="152400" indent="-152400">
              <a:buSzPct val="100000"/>
              <a:buChar char="•"/>
            </a:pPr>
            <a:r>
              <a:rPr lang="en-US" sz="1080" dirty="0">
                <a:solidFill>
                  <a:srgbClr val="1F2937"/>
                </a:solidFill>
              </a:rPr>
              <a:t>To improve testing strategy, automation flow selection, and technical explanation quality.</a:t>
            </a:r>
            <a:endParaRPr lang="en-US" sz="1080" dirty="0"/>
          </a:p>
          <a:p>
            <a:pPr marL="152400" indent="-152400">
              <a:buSzPct val="100000"/>
              <a:buChar char="•"/>
            </a:pPr>
            <a:r>
              <a:rPr lang="en-US" sz="1080" dirty="0">
                <a:solidFill>
                  <a:srgbClr val="1F2937"/>
                </a:solidFill>
              </a:rPr>
              <a:t>This aligns with the handbook's GenAI learning objective: applying AI support to real engineering tasks.</a:t>
            </a:r>
            <a:endParaRPr lang="en-US" sz="1080" dirty="0"/>
          </a:p>
        </p:txBody>
      </p:sp>
      <p:sp>
        <p:nvSpPr>
          <p:cNvPr id="8" name="Shape 6"/>
          <p:cNvSpPr/>
          <p:nvPr/>
        </p:nvSpPr>
        <p:spPr>
          <a:xfrm>
            <a:off x="6263640" y="1417320"/>
            <a:ext cx="5303520" cy="4114800"/>
          </a:xfrm>
          <a:prstGeom prst="roundRect">
            <a:avLst>
              <a:gd name="adj" fmla="val 1778"/>
            </a:avLst>
          </a:prstGeom>
          <a:solidFill>
            <a:srgbClr val="EAF2FB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28232" y="1536192"/>
            <a:ext cx="504748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3B5C"/>
                </a:solidFill>
              </a:rPr>
              <a:t>Selenium Automation Implemented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6428232" y="1801368"/>
            <a:ext cx="5047488" cy="36393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152400" indent="-152400">
              <a:buSzPct val="100000"/>
              <a:buChar char="•"/>
            </a:pPr>
            <a:r>
              <a:rPr lang="en-US" sz="1080" dirty="0">
                <a:solidFill>
                  <a:srgbClr val="1F2937"/>
                </a:solidFill>
              </a:rPr>
              <a:t>Built a separate Java + Selenium + TestNG automation project using Page Object Model.</a:t>
            </a:r>
            <a:endParaRPr lang="en-US" sz="1080" dirty="0"/>
          </a:p>
          <a:p>
            <a:pPr marL="152400" indent="-152400">
              <a:buSzPct val="100000"/>
              <a:buChar char="•"/>
            </a:pPr>
            <a:r>
              <a:rPr lang="en-US" sz="1080" dirty="0">
                <a:solidFill>
                  <a:srgbClr val="1F2937"/>
                </a:solidFill>
              </a:rPr>
              <a:t>Current simplified flows cover resident login, complaint submission, and admin assignment.</a:t>
            </a:r>
            <a:endParaRPr lang="en-US" sz="1080" dirty="0"/>
          </a:p>
          <a:p>
            <a:pPr marL="152400" indent="-152400">
              <a:buSzPct val="100000"/>
              <a:buChar char="•"/>
            </a:pPr>
            <a:r>
              <a:rPr lang="en-US" sz="1080" dirty="0">
                <a:solidFill>
                  <a:srgbClr val="1F2937"/>
                </a:solidFill>
              </a:rPr>
              <a:t>This directly maps to handbook topics: Selenium concepts, Java track automation, and maintainable test design.</a:t>
            </a:r>
            <a:endParaRPr lang="en-US" sz="1080" dirty="0"/>
          </a:p>
          <a:p>
            <a:pPr marL="152400" indent="-152400">
              <a:buSzPct val="100000"/>
              <a:buChar char="•"/>
            </a:pPr>
            <a:r>
              <a:rPr lang="en-US" sz="1080" dirty="0">
                <a:solidFill>
                  <a:srgbClr val="1F2937"/>
                </a:solidFill>
              </a:rPr>
              <a:t>POM was used to separate page locators/actions from test logic, improving readability and maintainability.</a:t>
            </a:r>
            <a:endParaRPr lang="en-US" sz="108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9875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33B5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Slide 7 - Technical Summary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11064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</a:rPr>
              <a:t>What we should communicate to the business unit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457200" y="987552"/>
            <a:ext cx="11155680" cy="0"/>
          </a:xfrm>
          <a:prstGeom prst="line">
            <a:avLst/>
          </a:prstGeom>
          <a:noFill/>
          <a:ln w="12700">
            <a:solidFill>
              <a:srgbClr val="D7DE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554480"/>
            <a:ext cx="10515600" cy="3474720"/>
          </a:xfrm>
          <a:prstGeom prst="roundRect">
            <a:avLst>
              <a:gd name="adj" fmla="val 2105"/>
            </a:avLst>
          </a:prstGeom>
          <a:solidFill>
            <a:srgbClr val="F7F9FC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87552" y="1673352"/>
            <a:ext cx="102595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3B5C"/>
                </a:solidFill>
              </a:rPr>
              <a:t>Final Positioning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987552" y="1938528"/>
            <a:ext cx="10259568" cy="29992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152400" indent="-152400">
              <a:buSzPct val="100000"/>
              <a:buChar char="•"/>
            </a:pPr>
            <a:r>
              <a:rPr lang="en-US" sz="1080" dirty="0">
                <a:solidFill>
                  <a:srgbClr val="1F2937"/>
                </a:solidFill>
              </a:rPr>
              <a:t>We are SDET Batch 4, Java Track, and OmniCivic is our business-aligned project demonstrating how we applied curriculum topics to a real engineering solution.</a:t>
            </a:r>
            <a:endParaRPr lang="en-US" sz="1080" dirty="0"/>
          </a:p>
          <a:p>
            <a:pPr marL="152400" indent="-152400">
              <a:buSzPct val="100000"/>
              <a:buChar char="•"/>
            </a:pPr>
            <a:r>
              <a:rPr lang="en-US" sz="1080" dirty="0">
                <a:solidFill>
                  <a:srgbClr val="1F2937"/>
                </a:solidFill>
              </a:rPr>
              <a:t>The project is not only functionally complete; it is technically structured using modern Java full-stack practices: Angular, Spring Boot, MySQL, REST APIs, JWT security, and Selenium automation.</a:t>
            </a:r>
            <a:endParaRPr lang="en-US" sz="1080" dirty="0"/>
          </a:p>
          <a:p>
            <a:pPr marL="152400" indent="-152400">
              <a:buSzPct val="100000"/>
              <a:buChar char="•"/>
            </a:pPr>
            <a:r>
              <a:rPr lang="en-US" sz="1080" dirty="0">
                <a:solidFill>
                  <a:srgbClr val="1F2937"/>
                </a:solidFill>
              </a:rPr>
              <a:t>We also implemented capabilities beyond the baseline curriculum, such as multi-tenancy, proof-of-work governance, geospatial validation, upvote control, and audit logging.</a:t>
            </a:r>
            <a:endParaRPr lang="en-US" sz="1080" dirty="0"/>
          </a:p>
          <a:p>
            <a:pPr marL="152400" indent="-152400">
              <a:buSzPct val="100000"/>
              <a:buChar char="•"/>
            </a:pPr>
            <a:r>
              <a:rPr lang="en-US" sz="1080" dirty="0">
                <a:solidFill>
                  <a:srgbClr val="1F2937"/>
                </a:solidFill>
              </a:rPr>
              <a:t>So the project demonstrates both learning absorption from the handbook and engineering maturity in extending those concepts into a scalable real-world platform.</a:t>
            </a:r>
            <a:endParaRPr lang="en-US" sz="108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OmniCivic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OmniCivic - SDET Batch 4 Technical Presentation</dc:title>
  <dc:subject>OmniCivic technical presentation for business unit</dc:subject>
  <dc:creator>OpenAI Codex</dc:creator>
  <cp:lastModifiedBy>OpenAI Codex</cp:lastModifiedBy>
  <cp:revision>1</cp:revision>
  <dcterms:created xsi:type="dcterms:W3CDTF">2026-06-05T08:41:37Z</dcterms:created>
  <dcterms:modified xsi:type="dcterms:W3CDTF">2026-06-05T08:41:37Z</dcterms:modified>
</cp:coreProperties>
</file>