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960120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OmniCivic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21792" y="1572768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7F8E"/>
                </a:solidFill>
              </a:rPr>
              <a:t>Business Technical Overview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21792" y="2240280"/>
            <a:ext cx="5120640" cy="1463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A complaint management platform for gated communities and municipal-style civic operations.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This deck explains what OmniCivic does, how the workflow operates, which technologies were used, how Gen AI helped the project, and how testing was automated.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583680" y="914400"/>
            <a:ext cx="4754880" cy="438912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903720" y="1280160"/>
            <a:ext cx="40690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903720" y="1280160"/>
            <a:ext cx="137160" cy="914400"/>
          </a:xfrm>
          <a:prstGeom prst="rect">
            <a:avLst/>
          </a:prstGeom>
          <a:solidFill>
            <a:srgbClr val="5B8C5A"/>
          </a:solidFill>
          <a:ln w="12700">
            <a:solidFill>
              <a:srgbClr val="5B8C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04888" y="1389888"/>
            <a:ext cx="37764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Residents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104888" y="1664208"/>
            <a:ext cx="3794760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152400" indent="-152400">
              <a:buSzPct val="100000"/>
              <a:buChar char="•"/>
            </a:pPr>
            <a:r>
              <a:rPr lang="en-US" sz="1080" dirty="0">
                <a:solidFill>
                  <a:srgbClr val="1F2937"/>
                </a:solidFill>
              </a:rPr>
              <a:t>Submit complaints with location and photo</a:t>
            </a:r>
            <a:endParaRPr lang="en-US" sz="1080" dirty="0"/>
          </a:p>
          <a:p>
            <a:pPr marL="152400" indent="-152400">
              <a:buSzPct val="100000"/>
              <a:buChar char="•"/>
            </a:pPr>
            <a:r>
              <a:rPr lang="en-US" sz="1080" dirty="0">
                <a:solidFill>
                  <a:srgbClr val="1F2937"/>
                </a:solidFill>
              </a:rPr>
              <a:t>Track progress and receive updates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6903720" y="2377440"/>
            <a:ext cx="40690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903720" y="2377440"/>
            <a:ext cx="137160" cy="914400"/>
          </a:xfrm>
          <a:prstGeom prst="rect">
            <a:avLst/>
          </a:prstGeom>
          <a:solidFill>
            <a:srgbClr val="D89B3C"/>
          </a:solidFill>
          <a:ln w="12700">
            <a:solidFill>
              <a:srgbClr val="D89B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04888" y="2487168"/>
            <a:ext cx="37764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Admins / Co-admins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104888" y="2761488"/>
            <a:ext cx="3794760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152400" indent="-152400">
              <a:buSzPct val="100000"/>
              <a:buChar char="•"/>
            </a:pPr>
            <a:r>
              <a:rPr lang="en-US" sz="1080" dirty="0">
                <a:solidFill>
                  <a:srgbClr val="1F2937"/>
                </a:solidFill>
              </a:rPr>
              <a:t>Assign work, review proof, close tickets</a:t>
            </a:r>
            <a:endParaRPr lang="en-US" sz="1080" dirty="0"/>
          </a:p>
          <a:p>
            <a:pPr marL="152400" indent="-152400">
              <a:buSzPct val="100000"/>
              <a:buChar char="•"/>
            </a:pPr>
            <a:r>
              <a:rPr lang="en-US" sz="1080" dirty="0">
                <a:solidFill>
                  <a:srgbClr val="1F2937"/>
                </a:solidFill>
              </a:rPr>
              <a:t>Manage users, categories, and governance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6903720" y="3474720"/>
            <a:ext cx="40690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903720" y="3474720"/>
            <a:ext cx="137160" cy="914400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04888" y="3584448"/>
            <a:ext cx="37764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Staff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104888" y="3858768"/>
            <a:ext cx="3794760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152400" indent="-152400">
              <a:buSzPct val="100000"/>
              <a:buChar char="•"/>
            </a:pPr>
            <a:r>
              <a:rPr lang="en-US" sz="1080" dirty="0">
                <a:solidFill>
                  <a:srgbClr val="1F2937"/>
                </a:solidFill>
              </a:rPr>
              <a:t>Start work, upload proof, and complete tasks</a:t>
            </a:r>
            <a:endParaRPr lang="en-US" sz="1080" dirty="0"/>
          </a:p>
          <a:p>
            <a:pPr marL="152400" indent="-152400">
              <a:buSzPct val="100000"/>
              <a:buChar char="•"/>
            </a:pPr>
            <a:r>
              <a:rPr lang="en-US" sz="1080" dirty="0">
                <a:solidFill>
                  <a:srgbClr val="1F2937"/>
                </a:solidFill>
              </a:rPr>
              <a:t>Operate from a structured task queue</a:t>
            </a:r>
            <a:endParaRPr lang="en-US" sz="10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Introduction To The Application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Business-first explanation of what OmniCivic solves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24128"/>
            <a:ext cx="1106424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25880"/>
            <a:ext cx="5440680" cy="4389120"/>
          </a:xfrm>
          <a:prstGeom prst="roundRect">
            <a:avLst>
              <a:gd name="adj" fmla="val 1667"/>
            </a:avLst>
          </a:prstGeom>
          <a:solidFill>
            <a:srgbClr val="F7F9FC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435608"/>
            <a:ext cx="5166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</a:rPr>
              <a:t>What OmniCivic Is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13232" y="1764792"/>
            <a:ext cx="5148072" cy="3840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</a:rPr>
              <a:t>A multi-tenant complaint management platform for gated communities, residential townships, and civic blocks.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</a:rPr>
              <a:t>Designed to replace fragmented complaint handling done through WhatsApp, calls, manual notes, and verbal follow-up.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</a:rPr>
              <a:t>Built to create accountability across residents, admins, and field staff through a single digital workflow.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</a:rPr>
              <a:t>Supports one deployment serving many communities while keeping each community's data logically isolated.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17920" y="1325880"/>
            <a:ext cx="5440680" cy="4389120"/>
          </a:xfrm>
          <a:prstGeom prst="roundRect">
            <a:avLst>
              <a:gd name="adj" fmla="val 1667"/>
            </a:avLst>
          </a:prstGeom>
          <a:solidFill>
            <a:srgbClr val="F7F9FC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82512" y="1435608"/>
            <a:ext cx="5166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7F8E"/>
                </a:solidFill>
              </a:rPr>
              <a:t>Business Problems Solved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382512" y="1764792"/>
            <a:ext cx="5148072" cy="3840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</a:rPr>
              <a:t>Complaints getting lost in unstructured communication channels.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</a:rPr>
              <a:t>No clear ownership of who should handle an issue next.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</a:rPr>
              <a:t>No proof that work was actually completed at the site.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</a:rPr>
              <a:t>No audit trail for management review, service quality, or compliance.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</a:rPr>
              <a:t>No community-wide visibility into recurring infrastructure problems.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End-To-End Workflow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How a complaint moves through the platform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24128"/>
            <a:ext cx="1106424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417320"/>
            <a:ext cx="347472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86384" y="1572768"/>
            <a:ext cx="411480" cy="411480"/>
          </a:xfrm>
          <a:prstGeom prst="ellipse">
            <a:avLst/>
          </a:prstGeom>
          <a:solidFill>
            <a:srgbClr val="5B8C5A"/>
          </a:solidFill>
          <a:ln w="12700">
            <a:solidFill>
              <a:srgbClr val="5B8C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" y="1627632"/>
            <a:ext cx="411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98448" y="1545336"/>
            <a:ext cx="268833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</a:rPr>
              <a:t>Resident Submission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298448" y="1801368"/>
            <a:ext cx="2670048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Resident selects category, enters description, pins the location, and adds optional photo evidence.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70832" y="1417320"/>
            <a:ext cx="347472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17136" y="1572768"/>
            <a:ext cx="411480" cy="411480"/>
          </a:xfrm>
          <a:prstGeom prst="ellipse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17136" y="1627632"/>
            <a:ext cx="411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0" y="1545336"/>
            <a:ext cx="268833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</a:rPr>
              <a:t>System Validation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029200" y="1801368"/>
            <a:ext cx="2670048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Platform checks location boundary rules, duplicate issue radius, and creates a community-scoped ticket number.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101584" y="1417320"/>
            <a:ext cx="347472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47888" y="1572768"/>
            <a:ext cx="411480" cy="411480"/>
          </a:xfrm>
          <a:prstGeom prst="ellipse">
            <a:avLst/>
          </a:prstGeom>
          <a:solidFill>
            <a:srgbClr val="D89B3C"/>
          </a:solidFill>
          <a:ln w="12700">
            <a:solidFill>
              <a:srgbClr val="D89B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47888" y="1627632"/>
            <a:ext cx="411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759952" y="1545336"/>
            <a:ext cx="268833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</a:rPr>
              <a:t>Admin Triage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759952" y="1801368"/>
            <a:ext cx="2670048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Admin sees the new complaint, reviews the details, assigns the correct staff member, and confirms ETA.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40080" y="2926080"/>
            <a:ext cx="347472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86384" y="3081528"/>
            <a:ext cx="411480" cy="411480"/>
          </a:xfrm>
          <a:prstGeom prst="ellipse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86384" y="3136392"/>
            <a:ext cx="411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298448" y="3054096"/>
            <a:ext cx="268833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</a:rPr>
              <a:t>Staff Execution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1298448" y="3310128"/>
            <a:ext cx="2670048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Assigned staff starts the task from their queue and updates the complaint into in-progress state.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370832" y="2926080"/>
            <a:ext cx="347472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17136" y="3081528"/>
            <a:ext cx="411480" cy="411480"/>
          </a:xfrm>
          <a:prstGeom prst="ellipse">
            <a:avLst/>
          </a:prstGeom>
          <a:solidFill>
            <a:srgbClr val="B5525C"/>
          </a:solidFill>
          <a:ln w="12700">
            <a:solidFill>
              <a:srgbClr val="B5525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17136" y="3136392"/>
            <a:ext cx="411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029200" y="3054096"/>
            <a:ext cx="268833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</a:rPr>
              <a:t>Proof Submission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5029200" y="3310128"/>
            <a:ext cx="2670048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Staff submits proof of work with note and optional photo. Staff cannot self-close the issue.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101584" y="2926080"/>
            <a:ext cx="347472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247888" y="3081528"/>
            <a:ext cx="411480" cy="411480"/>
          </a:xfrm>
          <a:prstGeom prst="ellipse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47888" y="3136392"/>
            <a:ext cx="411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759952" y="3054096"/>
            <a:ext cx="268833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</a:rPr>
              <a:t>Admin Verification &amp; Closure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8759952" y="3310128"/>
            <a:ext cx="2670048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Admin approves or rejects the proof. Approved issues move to resolved and then closed with a final note.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Solution Architecture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High-level technical structure explained in business terms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24128"/>
            <a:ext cx="1106424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417320"/>
            <a:ext cx="3429000" cy="356616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554480"/>
            <a:ext cx="3154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A7F8E"/>
                </a:solidFill>
              </a:rPr>
              <a:t>Frontend Layer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04672" y="1856232"/>
            <a:ext cx="3154680" cy="30358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1F2937"/>
                </a:solidFill>
              </a:rPr>
              <a:t>Angular 17 standalone component architecture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F2937"/>
                </a:solidFill>
              </a:rPr>
              <a:t>Reactive forms for complaint submission and admin workflows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F2937"/>
                </a:solidFill>
              </a:rPr>
              <a:t>Leaflet map integration for pinning complaints and boundary control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F2937"/>
                </a:solidFill>
              </a:rPr>
              <a:t>JWT-based session handling in the browser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4389120" y="1417320"/>
            <a:ext cx="3429000" cy="356616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53712" y="1554480"/>
            <a:ext cx="3154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324F"/>
                </a:solidFill>
              </a:rPr>
              <a:t>Backend Layer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553712" y="1856232"/>
            <a:ext cx="3154680" cy="30358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1F2937"/>
                </a:solidFill>
              </a:rPr>
              <a:t>Spring Boot 3.2 REST API built on Java 21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F2937"/>
                </a:solidFill>
              </a:rPr>
              <a:t>Role-based services for resident, admin, co-admin, staff, and super-admin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F2937"/>
                </a:solidFill>
              </a:rPr>
              <a:t>Business logic for assignment, proof review, notifications, and audit trails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F2937"/>
                </a:solidFill>
              </a:rPr>
              <a:t>Stateless JWT security with Spring Security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8138160" y="1417320"/>
            <a:ext cx="3429000" cy="356616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02752" y="1554480"/>
            <a:ext cx="3154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5B8C5A"/>
                </a:solidFill>
              </a:rPr>
              <a:t>Data Layer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8302752" y="1856232"/>
            <a:ext cx="3154680" cy="30358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1F2937"/>
                </a:solidFill>
              </a:rPr>
              <a:t>MySQL database managed through JPA/Hibernate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F2937"/>
                </a:solidFill>
              </a:rPr>
              <a:t>Community-prefix based multi-tenancy for logical data isolation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F2937"/>
                </a:solidFill>
              </a:rPr>
              <a:t>Structured entities for complaints, users, categories, proofs, notifications, and audit logs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F2937"/>
                </a:solidFill>
              </a:rPr>
              <a:t>Caching and query-level optimization for complaint-heavy screens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4050792" y="2697480"/>
            <a:ext cx="237744" cy="274320"/>
          </a:xfrm>
          <a:prstGeom prst="chevron">
            <a:avLst/>
          </a:prstGeom>
          <a:solidFill>
            <a:srgbClr val="E9EEF5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99832" y="2697480"/>
            <a:ext cx="237744" cy="274320"/>
          </a:xfrm>
          <a:prstGeom prst="chevron">
            <a:avLst/>
          </a:prstGeom>
          <a:solidFill>
            <a:srgbClr val="E9EEF5"/>
          </a:solidFill>
          <a:ln w="12700">
            <a:solidFill>
              <a:srgbClr val="D7DEE8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Security, Roles, And Tenant Isolation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Important implementation details that support trust and governance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24128"/>
            <a:ext cx="1106424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25880"/>
            <a:ext cx="3657600" cy="4480560"/>
          </a:xfrm>
          <a:prstGeom prst="roundRect">
            <a:avLst>
              <a:gd name="adj" fmla="val 2000"/>
            </a:avLst>
          </a:prstGeom>
          <a:solidFill>
            <a:srgbClr val="F7F9FC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435608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</a:rPr>
              <a:t>Authentication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13232" y="1764792"/>
            <a:ext cx="3364992" cy="3931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</a:rPr>
              <a:t>Login returns a JWT token after credential validation.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</a:rPr>
              <a:t>Token carries userId, role, first-login flag, and communityPrefix.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</a:rPr>
              <a:t>Angular interceptor sends the token on every API request.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</a:rPr>
              <a:t>Spring Security validates the token on every protected call.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15968" y="1325880"/>
            <a:ext cx="3657600" cy="4480560"/>
          </a:xfrm>
          <a:prstGeom prst="roundRect">
            <a:avLst>
              <a:gd name="adj" fmla="val 2000"/>
            </a:avLst>
          </a:prstGeom>
          <a:solidFill>
            <a:srgbClr val="F7F9FC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80560" y="1435608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89B3C"/>
                </a:solidFill>
              </a:rPr>
              <a:t>Authorization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480560" y="1764792"/>
            <a:ext cx="3364992" cy="3931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</a:rPr>
              <a:t>Route guards on the frontend restrict screens based on role.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</a:rPr>
              <a:t>PreAuthorize annotations on the backend protect APIs.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</a:rPr>
              <a:t>Residents, staff, admins, co-admins, and super-admins have distinct privileges.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</a:rPr>
              <a:t>First-login accounts are forced into password reset before normal use.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083296" y="1325880"/>
            <a:ext cx="3657600" cy="4480560"/>
          </a:xfrm>
          <a:prstGeom prst="roundRect">
            <a:avLst>
              <a:gd name="adj" fmla="val 2000"/>
            </a:avLst>
          </a:prstGeom>
          <a:solidFill>
            <a:srgbClr val="F7F9FC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47888" y="1435608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7F8E"/>
                </a:solidFill>
              </a:rPr>
              <a:t>Tenant Isolation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247888" y="1764792"/>
            <a:ext cx="3364992" cy="3931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</a:rPr>
              <a:t>Every major record stores communityPrefix.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</a:rPr>
              <a:t>Queries filter by prefix so one community cannot see another community's data.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</a:rPr>
              <a:t>Complaint numbering is local per community rather than global.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</a:rPr>
              <a:t>This enables a SaaS model with one deployment serving many communities.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 Technical Features With Business Impact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Where implementation details directly support service quality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24128"/>
            <a:ext cx="1106424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371600"/>
            <a:ext cx="5486400" cy="4343400"/>
          </a:xfrm>
          <a:prstGeom prst="roundRect">
            <a:avLst>
              <a:gd name="adj" fmla="val 1684"/>
            </a:avLst>
          </a:prstGeom>
          <a:solidFill>
            <a:srgbClr val="F7F9FC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1481328"/>
            <a:ext cx="5212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8C5A"/>
                </a:solidFill>
              </a:rPr>
              <a:t>Complaint Intelligence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58952" y="1810512"/>
            <a:ext cx="5193792" cy="3794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</a:rPr>
              <a:t>Duplicate detection uses a Haversine radius check so residents are encouraged to converge around the same issue instead of opening many copies.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</a:rPr>
              <a:t>Community boundary validation prevents fake complaints outside the allowed area.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</a:rPr>
              <a:t>Auto-generated ETA gives each ticket a default expiry window from submission time.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</a:rPr>
              <a:t>Upvote logic lets other residents mark a complaint as affecting them, but only once and never on their own complaint.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172200" y="1371600"/>
            <a:ext cx="5486400" cy="4343400"/>
          </a:xfrm>
          <a:prstGeom prst="roundRect">
            <a:avLst>
              <a:gd name="adj" fmla="val 1684"/>
            </a:avLst>
          </a:prstGeom>
          <a:solidFill>
            <a:srgbClr val="F7F9FC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36792" y="1481328"/>
            <a:ext cx="5212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5525C"/>
                </a:solidFill>
              </a:rPr>
              <a:t>Accountability Controls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336792" y="1810512"/>
            <a:ext cx="5193792" cy="3794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</a:rPr>
              <a:t>Staff must submit proof of work before resolution is possible.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</a:rPr>
              <a:t>Admins review proof and can approve, reject, or reassign if work quality is not acceptable.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</a:rPr>
              <a:t>Notifications are stored in the database and also sent through email asynchronously.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</a:rPr>
              <a:t>Audit logs record critical operational actions for governance and traceability.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6. How Gen AI Was Used In The Project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Used as an engineering accelerator rather than a resident-facing feature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24128"/>
            <a:ext cx="1106424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17320"/>
            <a:ext cx="3474720" cy="4297680"/>
          </a:xfrm>
          <a:prstGeom prst="roundRect">
            <a:avLst>
              <a:gd name="adj" fmla="val 2105"/>
            </a:avLst>
          </a:prstGeom>
          <a:solidFill>
            <a:srgbClr val="F7F9FC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527048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</a:rPr>
              <a:t>Planning And Structuring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96112" y="1856232"/>
            <a:ext cx="3182112" cy="3749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</a:rPr>
              <a:t>Converted raw product ideas into clearer modules and implementation steps.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</a:rPr>
              <a:t>Helped organize workflows such as proof-of-work, anti-fake complaints, ETA handling, and community feed behavior.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61688" y="1417320"/>
            <a:ext cx="3474720" cy="4297680"/>
          </a:xfrm>
          <a:prstGeom prst="roundRect">
            <a:avLst>
              <a:gd name="adj" fmla="val 2105"/>
            </a:avLst>
          </a:prstGeom>
          <a:solidFill>
            <a:srgbClr val="F7F9FC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26280" y="1527048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7F8E"/>
                </a:solidFill>
              </a:rPr>
              <a:t>Development Support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26280" y="1856232"/>
            <a:ext cx="3182112" cy="3749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</a:rPr>
              <a:t>Accelerated coding, refactoring, bug fixing, and UI refinement.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</a:rPr>
              <a:t>Helped reason about role-based access, validation rules, and workflow edge cases.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991856" y="1417320"/>
            <a:ext cx="3474720" cy="4297680"/>
          </a:xfrm>
          <a:prstGeom prst="roundRect">
            <a:avLst>
              <a:gd name="adj" fmla="val 2105"/>
            </a:avLst>
          </a:prstGeom>
          <a:solidFill>
            <a:srgbClr val="F7F9FC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56448" y="1527048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89B3C"/>
                </a:solidFill>
              </a:rPr>
              <a:t>Testing And Documentation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156448" y="1856232"/>
            <a:ext cx="3182112" cy="3749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</a:rPr>
              <a:t>Used to plan Selenium automation flows and simplify their structure.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</a:rPr>
              <a:t>Helped prepare technical summaries, interview explanations, and business presentation content.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7. Selenium Automation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Quality assurance support for critical platform workflows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24128"/>
            <a:ext cx="1106424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554480"/>
            <a:ext cx="2926080" cy="35661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691640"/>
            <a:ext cx="2651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324F"/>
                </a:solidFill>
              </a:rPr>
              <a:t>Automation Stack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96112" y="1993392"/>
            <a:ext cx="2651760" cy="30358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1F2937"/>
                </a:solidFill>
              </a:rPr>
              <a:t>Selenium WebDriver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F2937"/>
                </a:solidFill>
              </a:rPr>
              <a:t>Java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F2937"/>
                </a:solidFill>
              </a:rPr>
              <a:t>TestNG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F2937"/>
                </a:solidFill>
              </a:rPr>
              <a:t>Page Object Model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F2937"/>
                </a:solidFill>
              </a:rPr>
              <a:t>Separate automation folder from product code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3931920" y="1554480"/>
            <a:ext cx="374904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96512" y="1691640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A7F8E"/>
                </a:solidFill>
              </a:rPr>
              <a:t>Current Automated Business Flows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096512" y="1993392"/>
            <a:ext cx="3474720" cy="30358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1F2937"/>
                </a:solidFill>
              </a:rPr>
              <a:t>Resident login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F2937"/>
                </a:solidFill>
              </a:rPr>
              <a:t>Resident submits a complaint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F2937"/>
                </a:solidFill>
              </a:rPr>
              <a:t>Admin assigns the complaint to staff</a:t>
            </a:r>
            <a:endParaRPr lang="en-US" sz="1080" dirty="0"/>
          </a:p>
          <a:p>
            <a:pPr indent="0" marL="0">
              <a:buNone/>
            </a:pP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F2937"/>
                </a:solidFill>
              </a:rPr>
              <a:t>Purpose: reduce manual regression effort and verify core complaint lifecycle.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7955280" y="1554480"/>
            <a:ext cx="3474720" cy="356616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19872" y="1691640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5B8C5A"/>
                </a:solidFill>
              </a:rPr>
              <a:t>Why POM Matters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8119872" y="1993392"/>
            <a:ext cx="3200400" cy="30358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1F2937"/>
                </a:solidFill>
              </a:rPr>
              <a:t>Page classes isolate UI locators and actions.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F2937"/>
                </a:solidFill>
              </a:rPr>
              <a:t>Test logic remains simple and readable.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F2937"/>
                </a:solidFill>
              </a:rPr>
              <a:t>When UI changes, maintenance is localized to the relevant page class.</a:t>
            </a:r>
            <a:endParaRPr lang="en-US" sz="10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8. Business Value And Operational Outcomes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Why these technical choices matter to the business unit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24128"/>
            <a:ext cx="1106424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463040"/>
            <a:ext cx="5394960" cy="4206240"/>
          </a:xfrm>
          <a:prstGeom prst="roundRect">
            <a:avLst>
              <a:gd name="adj" fmla="val 1739"/>
            </a:avLst>
          </a:prstGeom>
          <a:solidFill>
            <a:srgbClr val="F7F9FC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1572768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</a:rPr>
              <a:t>Operational Benefits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50392" y="1901952"/>
            <a:ext cx="5102352" cy="3657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</a:rPr>
              <a:t>Lower complaint leakage because every issue is structured and traceable.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</a:rPr>
              <a:t>Faster resolution because assignment and ownership are explicit.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</a:rPr>
              <a:t>Better service quality because proof verification is mandatory before closure.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</a:rPr>
              <a:t>Higher resident trust because the community can see issue progress and status.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172200" y="1463040"/>
            <a:ext cx="5394960" cy="4206240"/>
          </a:xfrm>
          <a:prstGeom prst="roundRect">
            <a:avLst>
              <a:gd name="adj" fmla="val 1739"/>
            </a:avLst>
          </a:prstGeom>
          <a:solidFill>
            <a:srgbClr val="F7F9FC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36792" y="1572768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89B3C"/>
                </a:solidFill>
              </a:rPr>
              <a:t>Management Benefits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336792" y="1901952"/>
            <a:ext cx="5102352" cy="3657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</a:rPr>
              <a:t>Supports white-label SaaS delivery through logical multi-tenancy.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</a:rPr>
              <a:t>Enables data-driven decisions using complaint hotspots and resolution history.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</a:rPr>
              <a:t>Creates an audit trail for sensitive actions and service accountability.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</a:rPr>
              <a:t>Provides a scalable foundation for future AI-assisted insights and analytics.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9144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OmniCivic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85800" y="1508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7F8E"/>
                </a:solidFill>
              </a:rPr>
              <a:t>A complaint platform designed for accountability, visibility, and scalable civic operations.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685800" y="2331720"/>
            <a:ext cx="71323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Core message for the business unit: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OmniCivic is not only a complaint logging tool. It is a structured operational system that improves response quality, transparency, and governance while remaining cost-efficient through a multi-tenant architecture.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75320" y="1920240"/>
            <a:ext cx="292608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85632" y="2103120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</a:rPr>
              <a:t>Discussion prompts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458200" y="2468880"/>
            <a:ext cx="2377440" cy="10972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152400" indent="-152400">
              <a:buSzPct val="100000"/>
              <a:buChar char="•"/>
            </a:pPr>
            <a:r>
              <a:rPr lang="en-US" sz="1080" dirty="0">
                <a:solidFill>
                  <a:srgbClr val="1F2937"/>
                </a:solidFill>
              </a:rPr>
              <a:t>Deployment model</a:t>
            </a:r>
            <a:endParaRPr lang="en-US" sz="1080" dirty="0"/>
          </a:p>
          <a:p>
            <a:pPr marL="152400" indent="-152400">
              <a:buSzPct val="100000"/>
              <a:buChar char="•"/>
            </a:pPr>
            <a:r>
              <a:rPr lang="en-US" sz="1080" dirty="0">
                <a:solidFill>
                  <a:srgbClr val="1F2937"/>
                </a:solidFill>
              </a:rPr>
              <a:t>Adoption plan per community</a:t>
            </a:r>
            <a:endParaRPr lang="en-US" sz="1080" dirty="0"/>
          </a:p>
          <a:p>
            <a:pPr marL="152400" indent="-152400">
              <a:buSzPct val="100000"/>
              <a:buChar char="•"/>
            </a:pPr>
            <a:r>
              <a:rPr lang="en-US" sz="1080" dirty="0">
                <a:solidFill>
                  <a:srgbClr val="1F2937"/>
                </a:solidFill>
              </a:rPr>
              <a:t>SaaS pricing and reseller fit</a:t>
            </a:r>
            <a:endParaRPr lang="en-US" sz="1080" dirty="0"/>
          </a:p>
          <a:p>
            <a:pPr marL="152400" indent="-152400">
              <a:buSzPct val="100000"/>
              <a:buChar char="•"/>
            </a:pPr>
            <a:r>
              <a:rPr lang="en-US" sz="1080" dirty="0">
                <a:solidFill>
                  <a:srgbClr val="1F2937"/>
                </a:solidFill>
              </a:rPr>
              <a:t>Future AI-assisted features</a:t>
            </a:r>
            <a:endParaRPr lang="en-US" sz="10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OmniCivic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OmniCivic - Business Technical Overview</dc:title>
  <dc:subject>OmniCivic business technical presentation</dc:subject>
  <dc:creator>OpenAI Codex</dc:creator>
  <cp:lastModifiedBy>OpenAI Codex</cp:lastModifiedBy>
  <cp:revision>1</cp:revision>
  <dcterms:created xsi:type="dcterms:W3CDTF">2026-06-05T08:18:26Z</dcterms:created>
  <dcterms:modified xsi:type="dcterms:W3CDTF">2026-06-05T08:18:26Z</dcterms:modified>
</cp:coreProperties>
</file>